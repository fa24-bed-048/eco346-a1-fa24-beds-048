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3" r:id="rId1"/>
  </p:sldMasterIdLst>
  <p:notesMasterIdLst>
    <p:notesMasterId r:id="rId8"/>
  </p:notesMasterIdLst>
  <p:sldIdLst>
    <p:sldId id="260" r:id="rId2"/>
    <p:sldId id="256" r:id="rId3"/>
    <p:sldId id="257" r:id="rId4"/>
    <p:sldId id="258" r:id="rId5"/>
    <p:sldId id="259" r:id="rId6"/>
    <p:sldId id="261" r:id="rId7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2222"/>
                </a:solidFill>
                <a:latin typeface="Calibri"/>
              </a:defRPr>
            </a:pPr>
            <a:r>
              <a:rPr lang="en-GB" sz="1400" b="0" i="0" u="none" strike="noStrike">
                <a:solidFill>
                  <a:srgbClr val="222222"/>
                </a:solidFill>
                <a:latin typeface="Calibri"/>
              </a:rPr>
              <a:t>Annual spending per student (Rs)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spending (Rs)</c:v>
                </c:pt>
              </c:strCache>
            </c:strRef>
          </c:tx>
          <c:spPr>
            <a:solidFill>
              <a:srgbClr val="1F3D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222"/>
                    </a:solidFill>
                    <a:latin typeface="Calibri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10th pct (weighted)</c:v>
                </c:pt>
                <c:pt idx="1">
                  <c:v>Median (weighted)</c:v>
                </c:pt>
                <c:pt idx="2">
                  <c:v>Median (unweighted)</c:v>
                </c:pt>
                <c:pt idx="3">
                  <c:v>90th pct (weighted)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2000</c:v>
                </c:pt>
                <c:pt idx="1">
                  <c:v>6600</c:v>
                </c:pt>
                <c:pt idx="2">
                  <c:v>7000</c:v>
                </c:pt>
                <c:pt idx="3">
                  <c:v>30000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E1-784E-B70C-F06D2198C8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64"/>
                </a:solidFill>
                <a:latin typeface="Calibri"/>
              </a:defRPr>
            </a:pPr>
            <a:endParaRPr lang="en-PK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64"/>
                </a:solidFill>
                <a:latin typeface="Calibri"/>
              </a:defRPr>
            </a:pPr>
            <a:endParaRPr lang="en-PK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22222"/>
                </a:solidFill>
                <a:latin typeface="Calibri"/>
              </a:defRPr>
            </a:pPr>
            <a:r>
              <a:rPr lang="en-GB" sz="1400" b="0" i="0" u="none" strike="noStrike">
                <a:solidFill>
                  <a:srgbClr val="222222"/>
                </a:solidFill>
                <a:latin typeface="Calibri"/>
              </a:rPr>
              <a:t>Weighted literacy rate (%) by age band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</c:v>
                </c:pt>
              </c:strCache>
            </c:strRef>
          </c:tx>
          <c:spPr>
            <a:ln w="38100" cap="flat">
              <a:solidFill>
                <a:srgbClr val="1F6F8B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1F6F8B"/>
              </a:solidFill>
              <a:ln w="9525" cap="flat">
                <a:solidFill>
                  <a:srgbClr val="1F6F8B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10-14</c:v>
                </c:pt>
                <c:pt idx="1">
                  <c:v>15-19</c:v>
                </c:pt>
                <c:pt idx="2">
                  <c:v>20-24</c:v>
                </c:pt>
                <c:pt idx="3">
                  <c:v>25-29</c:v>
                </c:pt>
                <c:pt idx="4">
                  <c:v>30-34</c:v>
                </c:pt>
                <c:pt idx="5">
                  <c:v>35-39</c:v>
                </c:pt>
                <c:pt idx="6">
                  <c:v>40-44</c:v>
                </c:pt>
                <c:pt idx="7">
                  <c:v>45-49</c:v>
                </c:pt>
                <c:pt idx="8">
                  <c:v>50-54</c:v>
                </c:pt>
                <c:pt idx="9">
                  <c:v>55-59</c:v>
                </c:pt>
                <c:pt idx="10">
                  <c:v>60-64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80.400000000000006</c:v>
                </c:pt>
                <c:pt idx="1">
                  <c:v>79.8</c:v>
                </c:pt>
                <c:pt idx="2">
                  <c:v>74.900000000000006</c:v>
                </c:pt>
                <c:pt idx="3">
                  <c:v>68.099999999999994</c:v>
                </c:pt>
                <c:pt idx="4">
                  <c:v>65.900000000000006</c:v>
                </c:pt>
                <c:pt idx="5">
                  <c:v>63.5</c:v>
                </c:pt>
                <c:pt idx="6">
                  <c:v>61.3</c:v>
                </c:pt>
                <c:pt idx="7">
                  <c:v>56.5</c:v>
                </c:pt>
                <c:pt idx="8">
                  <c:v>52.8</c:v>
                </c:pt>
                <c:pt idx="9">
                  <c:v>50.8</c:v>
                </c:pt>
                <c:pt idx="10">
                  <c:v>45.5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B12-9C41-AB13-AE714FB3A3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Women</c:v>
                </c:pt>
              </c:strCache>
            </c:strRef>
          </c:tx>
          <c:spPr>
            <a:ln w="38100" cap="flat">
              <a:solidFill>
                <a:srgbClr val="C8553D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C8553D"/>
              </a:solidFill>
              <a:ln w="9525" cap="flat">
                <a:solidFill>
                  <a:srgbClr val="C8553D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10-14</c:v>
                </c:pt>
                <c:pt idx="1">
                  <c:v>15-19</c:v>
                </c:pt>
                <c:pt idx="2">
                  <c:v>20-24</c:v>
                </c:pt>
                <c:pt idx="3">
                  <c:v>25-29</c:v>
                </c:pt>
                <c:pt idx="4">
                  <c:v>30-34</c:v>
                </c:pt>
                <c:pt idx="5">
                  <c:v>35-39</c:v>
                </c:pt>
                <c:pt idx="6">
                  <c:v>40-44</c:v>
                </c:pt>
                <c:pt idx="7">
                  <c:v>45-49</c:v>
                </c:pt>
                <c:pt idx="8">
                  <c:v>50-54</c:v>
                </c:pt>
                <c:pt idx="9">
                  <c:v>55-59</c:v>
                </c:pt>
                <c:pt idx="10">
                  <c:v>60-64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74.5</c:v>
                </c:pt>
                <c:pt idx="1">
                  <c:v>73.099999999999994</c:v>
                </c:pt>
                <c:pt idx="2">
                  <c:v>63.1</c:v>
                </c:pt>
                <c:pt idx="3">
                  <c:v>52.9</c:v>
                </c:pt>
                <c:pt idx="4">
                  <c:v>45.4</c:v>
                </c:pt>
                <c:pt idx="5">
                  <c:v>39.6</c:v>
                </c:pt>
                <c:pt idx="6">
                  <c:v>30.7</c:v>
                </c:pt>
                <c:pt idx="7">
                  <c:v>25.9</c:v>
                </c:pt>
                <c:pt idx="8">
                  <c:v>17.600000000000001</c:v>
                </c:pt>
                <c:pt idx="9">
                  <c:v>15</c:v>
                </c:pt>
                <c:pt idx="10">
                  <c:v>12.3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B12-9C41-AB13-AE714FB3A3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64"/>
                </a:solidFill>
                <a:latin typeface="Calibri"/>
              </a:defRPr>
            </a:pPr>
            <a:endParaRPr lang="en-PK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64"/>
                </a:solidFill>
                <a:latin typeface="Calibri"/>
              </a:defRPr>
            </a:pPr>
            <a:endParaRPr lang="en-PK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22222"/>
              </a:solidFill>
              <a:latin typeface="Calibri"/>
              <a:cs typeface="Calibri"/>
            </a:defRPr>
          </a:pPr>
          <a:endParaRPr lang="en-PK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5570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three findings. Data: PSLM 2019-20 person and household files, Punjab rural subset.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Quantiles use the assignment definition: smallest value where cumulative weight share reaches 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band has at least 400 observations per sex. A single cross-section cannot separate cohort effects from ageing.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Redesign principles: overplotting, perceptual ranking of channels, data-ink ratio.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574800"/>
            <a:ext cx="6619244" cy="2008236"/>
          </a:xfrm>
        </p:spPr>
        <p:txBody>
          <a:bodyPr anchor="b"/>
          <a:lstStyle>
            <a:lvl1pPr>
              <a:defRPr sz="40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619239" y="1344169"/>
            <a:ext cx="742949" cy="2285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713982" y="2420874"/>
            <a:ext cx="2894846" cy="2286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4406" y="221797"/>
            <a:ext cx="628649" cy="57576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22946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6" y="1952625"/>
            <a:ext cx="6619244" cy="25622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45776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008234"/>
            <a:ext cx="3263269" cy="1712868"/>
          </a:xfrm>
        </p:spPr>
        <p:txBody>
          <a:bodyPr anchor="ctr"/>
          <a:lstStyle>
            <a:lvl1pPr algn="l">
              <a:defRPr sz="3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71670" y="2008233"/>
            <a:ext cx="2818159" cy="1712868"/>
          </a:xfrm>
        </p:spPr>
        <p:txBody>
          <a:bodyPr anchor="ctr"/>
          <a:lstStyle>
            <a:lvl1pPr marL="0" indent="0" algn="l">
              <a:buNone/>
              <a:defRPr sz="15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8499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15" y="1952625"/>
            <a:ext cx="3618869" cy="2562226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6535" y="1952625"/>
            <a:ext cx="3618869" cy="2562225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03888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361886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215" y="2384822"/>
            <a:ext cx="3618869" cy="2130029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6535" y="1952625"/>
            <a:ext cx="361886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6535" y="2384822"/>
            <a:ext cx="3618869" cy="2130029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14112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571060" cy="53022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98792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98892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971550"/>
            <a:ext cx="2094869" cy="12001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5859" y="1085850"/>
            <a:ext cx="3892550" cy="3429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5" y="2346961"/>
            <a:ext cx="2094869" cy="2171699"/>
          </a:xfrm>
        </p:spPr>
        <p:txBody>
          <a:bodyPr/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73251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270000"/>
            <a:ext cx="2898851" cy="1301750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10903" y="857250"/>
            <a:ext cx="2420395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marL="0" lvl="0" indent="0" algn="ctr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216" y="2743200"/>
            <a:ext cx="2894409" cy="1028700"/>
          </a:xfrm>
        </p:spPr>
        <p:txBody>
          <a:bodyPr>
            <a:normAutofit/>
          </a:bodyPr>
          <a:lstStyle>
            <a:lvl1pPr marL="0" indent="0">
              <a:buNone/>
              <a:defRPr sz="10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56176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3727445"/>
            <a:ext cx="6619244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57175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4152499"/>
            <a:ext cx="6619244" cy="370284"/>
          </a:xfrm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78972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598" y="797563"/>
            <a:ext cx="6623862" cy="1029740"/>
          </a:xfrm>
        </p:spPr>
        <p:txBody>
          <a:bodyPr/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657475"/>
            <a:ext cx="6619244" cy="1857375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70441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661175" y="455502"/>
            <a:ext cx="601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7413344" y="1960341"/>
            <a:ext cx="489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7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6408" y="736600"/>
            <a:ext cx="6340430" cy="2022474"/>
          </a:xfrm>
        </p:spPr>
        <p:txBody>
          <a:bodyPr/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459459" y="2759074"/>
            <a:ext cx="5798414" cy="256631"/>
          </a:xfrm>
        </p:spPr>
        <p:txBody>
          <a:bodyPr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771899"/>
            <a:ext cx="6933673" cy="748393"/>
          </a:xfrm>
        </p:spPr>
        <p:txBody>
          <a:bodyPr anchor="ctr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8783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778000"/>
            <a:ext cx="6619245" cy="136688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768725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83717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1952626"/>
            <a:ext cx="235640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215" y="2384823"/>
            <a:ext cx="2356409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4541" y="1952625"/>
            <a:ext cx="236025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4541" y="2384823"/>
            <a:ext cx="2360257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16101" y="1952626"/>
            <a:ext cx="235929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16247" y="2384822"/>
            <a:ext cx="2359152" cy="2135470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302978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29301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12003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5" y="3399633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00915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215" y="3831830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649" y="3399634"/>
            <a:ext cx="22878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61347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7629" y="3831829"/>
            <a:ext cx="2287829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7082" y="3399634"/>
            <a:ext cx="228832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22273" y="1952625"/>
            <a:ext cx="2018432" cy="11936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87081" y="3831828"/>
            <a:ext cx="2288322" cy="6884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3304373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5848352" y="1927225"/>
            <a:ext cx="0" cy="261937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20833" y="4793879"/>
            <a:ext cx="2733212" cy="2286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2592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730251"/>
            <a:ext cx="6619244" cy="53022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1952625"/>
            <a:ext cx="6619244" cy="2562225"/>
          </a:xfrm>
        </p:spPr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21580" y="4793879"/>
            <a:ext cx="742949" cy="228599"/>
          </a:xfrm>
        </p:spPr>
        <p:txBody>
          <a:bodyPr/>
          <a:lstStyle/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45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27" y="958850"/>
            <a:ext cx="1057474" cy="3561443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16" y="958850"/>
            <a:ext cx="4692019" cy="356144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9829" y="4793879"/>
            <a:ext cx="744101" cy="228599"/>
          </a:xfrm>
        </p:spPr>
        <p:txBody>
          <a:bodyPr/>
          <a:lstStyle/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22842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006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216" y="730251"/>
            <a:ext cx="6571060" cy="5302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1952625"/>
            <a:ext cx="6571060" cy="2562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89829" y="4793879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1" i="0">
                <a:solidFill>
                  <a:schemeClr val="accent1"/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0833" y="4793879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037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  <p:sldLayoutId id="2147483827" r:id="rId14"/>
    <p:sldLayoutId id="2147483828" r:id="rId15"/>
    <p:sldLayoutId id="2147483829" r:id="rId16"/>
    <p:sldLayoutId id="2147483830" r:id="rId17"/>
    <p:sldLayoutId id="2147483831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9349B9-805B-DB38-1240-EA5CECF8121D}"/>
              </a:ext>
            </a:extLst>
          </p:cNvPr>
          <p:cNvSpPr txBox="1"/>
          <p:nvPr/>
        </p:nvSpPr>
        <p:spPr>
          <a:xfrm>
            <a:off x="2966223" y="1813931"/>
            <a:ext cx="312977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4400" dirty="0"/>
              <a:t>WELCOME</a:t>
            </a:r>
          </a:p>
          <a:p>
            <a:r>
              <a:rPr lang="en-PK" sz="4400" dirty="0"/>
              <a:t>EVERYONE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974F40-95B6-57BA-5613-D8C6F67D256C}"/>
              </a:ext>
            </a:extLst>
          </p:cNvPr>
          <p:cNvSpPr txBox="1"/>
          <p:nvPr/>
        </p:nvSpPr>
        <p:spPr>
          <a:xfrm>
            <a:off x="7114478" y="4207727"/>
            <a:ext cx="1330814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sz="1100" dirty="0"/>
              <a:t>M ABDUREHMAN</a:t>
            </a:r>
          </a:p>
          <a:p>
            <a:r>
              <a:rPr lang="en-PK" sz="1100" dirty="0"/>
              <a:t>FA24-BED-048</a:t>
            </a:r>
          </a:p>
          <a:p>
            <a:r>
              <a:rPr lang="en-PK" sz="1100" dirty="0"/>
              <a:t>VARIENT 0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68446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07394" y="283246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 &amp; Literacy in Rural Punjab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>
              <a:solidFill>
                <a:srgbClr val="E0A5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PSLM 2019-20  |  Punjab, rural  |  Weighted by household weight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65176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76148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9,170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506724"/>
            <a:ext cx="22860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analysed (spending Rs 100 - Rs 1,000,000)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265176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276148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6,600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3506724"/>
            <a:ext cx="22860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median annual spending per student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651760"/>
            <a:ext cx="2560320" cy="1554480"/>
          </a:xfrm>
          <a:prstGeom prst="roundRect">
            <a:avLst>
              <a:gd name="adj" fmla="val 7059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276148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35.8 pts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3506724"/>
            <a:ext cx="22860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male-female literacy gap, ages 55-59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5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questions: how much do families spend on schooling, how does literacy change with age, and how well does the redesigned chart hold up?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 spending is strongly right-skewed</a:t>
            </a:r>
            <a:endParaRPr lang="en-US" sz="3000" dirty="0">
              <a:solidFill>
                <a:schemeClr val="bg1"/>
              </a:solidFill>
            </a:endParaRPr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51206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1188720"/>
            <a:ext cx="2834640" cy="1143000"/>
          </a:xfrm>
          <a:prstGeom prst="roundRect">
            <a:avLst>
              <a:gd name="adj" fmla="val 960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89320" y="1298448"/>
            <a:ext cx="25603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15x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989320" y="1817370"/>
            <a:ext cx="25603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90th percentile vs 10th (Rs 30,000 vs Rs 2,000)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852160" y="2468880"/>
            <a:ext cx="2834640" cy="1143000"/>
          </a:xfrm>
          <a:prstGeom prst="roundRect">
            <a:avLst>
              <a:gd name="adj" fmla="val 9600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89320" y="2578608"/>
            <a:ext cx="25603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217 vs 209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5989320" y="3097530"/>
            <a:ext cx="25603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weight below vs above the unweighted median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852160" y="37490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 pulls the median down from Rs 7,000 to Rs 6,600: lower-spending households represent slightly more of rural Punjab. 3 of 9,173 students fell outside the Rs 100 - Rs 1,000,000 range.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97727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Literacy falls with age, and far faster for women</a:t>
            </a:r>
            <a:endParaRPr lang="en-US" sz="3000" dirty="0">
              <a:solidFill>
                <a:schemeClr val="bg1"/>
              </a:solidFill>
            </a:endParaRPr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188720"/>
          <a:ext cx="53949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126480" y="118872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263640" y="1298448"/>
            <a:ext cx="22860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73.1% | 79.8%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263640" y="1767078"/>
            <a:ext cx="228600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15-19: women | men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126480" y="237744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63640" y="2487168"/>
            <a:ext cx="22860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15.0% | 50.8%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6263640" y="2955798"/>
            <a:ext cx="228600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55-59: women | men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356616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63640" y="3675888"/>
            <a:ext cx="22860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35.8 pts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4144518"/>
            <a:ext cx="228600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widest gap, at ages 55-59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makeover, and a Python cross-check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742192"/>
            <a:ext cx="548640" cy="548640"/>
          </a:xfrm>
          <a:prstGeom prst="ellipse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7570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643317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means replace the raw 0/1 scatter, fixing overplotting.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9766" y="2675918"/>
            <a:ext cx="548640" cy="548640"/>
          </a:xfrm>
          <a:prstGeom prst="ellipse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668485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374836"/>
            <a:ext cx="3840480" cy="6884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500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carries age and literacy; colour only marks sex.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548640" cy="548640"/>
          </a:xfrm>
          <a:prstGeom prst="ellipse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4290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end labels replace the legend, cutting non-data ink.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394960" y="1234440"/>
            <a:ext cx="3291840" cy="3383280"/>
          </a:xfrm>
          <a:prstGeom prst="roundRect">
            <a:avLst>
              <a:gd name="adj" fmla="val 3333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7784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vs Python: women aged 15-19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17830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6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73.1%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17830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73.1%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557784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(ggplot2)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2423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(matplotlib)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292608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test confirmed all counts and all 11 age-band rates match. The one visual difference, default axis padding, was fixed with identical limits (age 9-70, rate 0-100) and breaks in both scripts.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5262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F6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the default scatter shows the raw spread and the discreteness of the 0/1 outcome, which the summary hides.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4BD41D-4CB7-EAC5-8B0B-185184FCBAE0}"/>
              </a:ext>
            </a:extLst>
          </p:cNvPr>
          <p:cNvSpPr txBox="1"/>
          <p:nvPr/>
        </p:nvSpPr>
        <p:spPr>
          <a:xfrm>
            <a:off x="1486829" y="2364059"/>
            <a:ext cx="61480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4400" dirty="0"/>
              <a:t>THANK YOU SO MUCH</a:t>
            </a:r>
          </a:p>
        </p:txBody>
      </p:sp>
    </p:spTree>
    <p:extLst>
      <p:ext uri="{BB962C8B-B14F-4D97-AF65-F5344CB8AC3E}">
        <p14:creationId xmlns:p14="http://schemas.microsoft.com/office/powerpoint/2010/main" val="16520989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{617F8AD3-C0DA-2A4E-B896-0520AE326C46}TFf6bf91dc-9fa0-43ba-bb03-6c59cb3d4c8c36ac9200-29473116ee01</Template>
  <TotalTime>7</TotalTime>
  <Words>396</Words>
  <Application>Microsoft Macintosh PowerPoint</Application>
  <PresentationFormat>On-screen Show (16:9)</PresentationFormat>
  <Paragraphs>55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Cambria</vt:lpstr>
      <vt:lpstr>Century Gothic</vt:lpstr>
      <vt:lpstr>Wingdings 3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Education &amp; Literacy in Rural Punjab</dc:title>
  <dc:subject>PptxGenJS Presentation</dc:subject>
  <dc:creator>PptxGenJS</dc:creator>
  <cp:lastModifiedBy>Microsoft Office User</cp:lastModifiedBy>
  <cp:revision>3</cp:revision>
  <dcterms:created xsi:type="dcterms:W3CDTF">2026-10-26T16:52:11Z</dcterms:created>
  <dcterms:modified xsi:type="dcterms:W3CDTF">2026-10-26T18:48:03Z</dcterms:modified>
</cp:coreProperties>
</file>